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\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ppt\_rels\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\slideMasters\_rels\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595360" y="731520"/>
            <a:ext cx="2560320" cy="64008"/>
          </a:xfrm>
          <a:prstGeom prst="rect">
            <a:avLst/>
          </a:prstGeom>
          <a:solidFill>
            <a:srgbClr val="1E3A73"/>
          </a:solidFill>
          <a:ln w="12700">
            <a:solidFill>
              <a:srgbClr val="1E3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1005840"/>
            <a:ext cx="1554480" cy="64008"/>
          </a:xfrm>
          <a:prstGeom prst="rect">
            <a:avLst/>
          </a:prstGeom>
          <a:solidFill>
            <a:srgbClr val="1E3A73"/>
          </a:solidFill>
          <a:ln w="12700">
            <a:solidFill>
              <a:srgbClr val="1E3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61120" y="1280160"/>
            <a:ext cx="2194560" cy="64008"/>
          </a:xfrm>
          <a:prstGeom prst="rect">
            <a:avLst/>
          </a:prstGeom>
          <a:solidFill>
            <a:srgbClr val="1E3A73"/>
          </a:solidFill>
          <a:ln w="12700">
            <a:solidFill>
              <a:srgbClr val="1E3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520" y="1554480"/>
            <a:ext cx="1280160" cy="64008"/>
          </a:xfrm>
          <a:prstGeom prst="rect">
            <a:avLst/>
          </a:prstGeom>
          <a:solidFill>
            <a:srgbClr val="1E3A73"/>
          </a:solidFill>
          <a:ln w="12700">
            <a:solidFill>
              <a:srgbClr val="1E3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0" y="1965960"/>
            <a:ext cx="2377440" cy="2377440"/>
          </a:xfrm>
          <a:prstGeom prst="ellipse">
            <a:avLst/>
          </a:prstGeom>
          <a:solidFill>
            <a:srgbClr val="111A2E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6840" y="2267712"/>
            <a:ext cx="1554480" cy="11887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7400" b="1" i="0">
                <a:solidFill>
                  <a:srgbClr val="4EDEA3"/>
                </a:solidFill>
                <a:latin typeface="Consolas"/>
              </a:rPr>
              <a:t>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13232"/>
            <a:ext cx="539496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ADC6FF"/>
                </a:solidFill>
                <a:latin typeface="Consolas"/>
              </a:rPr>
              <a:t>TECHSHIELD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572768"/>
            <a:ext cx="6675120" cy="1371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 i="0">
                <a:solidFill>
                  <a:srgbClr val="F8FAFC"/>
                </a:solidFill>
                <a:latin typeface="Aptos"/>
              </a:rPr>
              <a:t>Marketplace verificado</a:t>
            </a:r>
          </a:p>
          <a:p>
            <a:pPr algn="l">
              <a:spcAft>
                <a:spcPts val="400"/>
              </a:spcAft>
            </a:pPr>
            <a:r>
              <a:rPr sz="3100" b="1" i="0">
                <a:solidFill>
                  <a:srgbClr val="F8FAFC"/>
                </a:solidFill>
                <a:latin typeface="Aptos"/>
              </a:rPr>
              <a:t>de hardware y móviles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82112"/>
            <a:ext cx="66751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94A3B8"/>
                </a:solidFill>
                <a:latin typeface="Aptos"/>
              </a:rPr>
              <a:t>Comprar tecnología usada con más confianza, trazabilidad y protección.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4343400"/>
            <a:ext cx="5212080" cy="56692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489704"/>
            <a:ext cx="4846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MATERIA  •  INTEGRANTES  •  FECHA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80760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PRESENTACIÓN DEL PROYECTO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¿Qué es TechShield?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Una plataforma para conectar compradores y vendedores de tecnología con más señales de confianza.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65960"/>
            <a:ext cx="10698480" cy="19202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99669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4EDEA3"/>
                </a:solidFill>
                <a:latin typeface="Consolas"/>
              </a:rPr>
              <a:t>COMPRAR  +  VENDER  +  VERIFICAR  +  SEGUIR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63240"/>
            <a:ext cx="98755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Componentes de PC y celulares en un flujo pensado para reducir incertidumbre.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343400"/>
            <a:ext cx="310896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343400"/>
            <a:ext cx="64008" cy="123444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507992"/>
            <a:ext cx="27249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DC6FF"/>
                </a:solidFill>
                <a:latin typeface="Aptos"/>
              </a:rPr>
              <a:t>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965192"/>
            <a:ext cx="272491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Publicaciones y catálogo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4343400"/>
            <a:ext cx="310896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4343400"/>
            <a:ext cx="64008" cy="123444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4507992"/>
            <a:ext cx="27249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EDEA3"/>
                </a:solidFill>
                <a:latin typeface="Aptos"/>
              </a:rPr>
              <a:t>Confianza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4965192"/>
            <a:ext cx="272491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Verificación y reputación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43400"/>
            <a:ext cx="310896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4343400"/>
            <a:ext cx="64008" cy="123444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4507992"/>
            <a:ext cx="27249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CD7F6"/>
                </a:solidFill>
                <a:latin typeface="Aptos"/>
              </a:rPr>
              <a:t>Trazabilidad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965192"/>
            <a:ext cx="272491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Orden y seguimiento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El problema y la respuesta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La propuesta aborda riesgos frecuentes de la compraventa de tecnología usada.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166360" cy="3474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64008" cy="3474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39112"/>
            <a:ext cx="47823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EF4444"/>
                </a:solidFill>
                <a:latin typeface="Aptos"/>
              </a:rPr>
              <a:t>EL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96312"/>
            <a:ext cx="4782312" cy="2761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Estado real del producto difícil de comprobar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Riesgo de estafas o publicaciones engañosas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Poca trazabilidad de la entrega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Confianza basada solo en la palabra del vendedor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166360" cy="3474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74519"/>
            <a:ext cx="64008" cy="347472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2039112"/>
            <a:ext cx="47823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4EDEA3"/>
                </a:solidFill>
                <a:latin typeface="Aptos"/>
              </a:rPr>
              <a:t>LA RESPUESTA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496312"/>
            <a:ext cx="4782312" cy="2761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Verificaciones técnicas y evidencia visual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Escrow 10 días + cobertura 45 días desde el pago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Seguimiento del envío y estados de entrega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F8FAFC"/>
                </a:solidFill>
                <a:latin typeface="Aptos"/>
              </a:rPr>
              <a:t>• Reseñas, reportes y resolución de quejas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15000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ADC6FF"/>
                </a:solidFill>
                <a:latin typeface="Aptos"/>
              </a:rPr>
              <a:t>OBJETIVO: reducir incertidumbre y mejorar la trazabilidad de cada operación.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¿Para quién está pensada?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Cada rol participa en una parte distinta del ciclo de compraventa.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29000" cy="32461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64008" cy="324612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DC6FF"/>
                </a:solidFill>
                <a:latin typeface="Aptos"/>
              </a:rPr>
              <a:t>01 · COMPRADOR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50592"/>
            <a:ext cx="30449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24912"/>
            <a:ext cx="3044952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Explora y filtra productos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Consulta detalles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Compra y sigue el pedido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Deja reseñas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920240"/>
            <a:ext cx="3429000" cy="32461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64008" cy="324612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EDEA3"/>
                </a:solidFill>
                <a:latin typeface="Aptos"/>
              </a:rPr>
              <a:t>02 · VENDEDOR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450592"/>
            <a:ext cx="30449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724912"/>
            <a:ext cx="3044952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Publica productos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Gestiona stock y ventas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Conecta Mercado Libre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Consulta operaciones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920240"/>
            <a:ext cx="3429000" cy="32461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920240"/>
            <a:ext cx="64008" cy="324612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CD7F6"/>
                </a:solidFill>
                <a:latin typeface="Aptos"/>
              </a:rPr>
              <a:t>03 · ADMIN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450592"/>
            <a:ext cx="30449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724912"/>
            <a:ext cx="3044952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Revisa verificaciones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Gestiona reportes y quejas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Consulta métricas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Modera operaciones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Funciones principales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Un recorrido desde descubrir el producto hasta cerrar la operación.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3383280" cy="14173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84248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Aptos"/>
              </a:rPr>
              <a:t>Explorar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41448"/>
            <a:ext cx="23774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Catálogo, categorías y filtros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383280" cy="14173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2020824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EDEA3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1984248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Aptos"/>
              </a:rPr>
              <a:t>Comprar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2441448"/>
            <a:ext cx="23774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Carrito, checkout y cupones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383280" cy="14173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20824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984248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Aptos"/>
              </a:rPr>
              <a:t>Verificar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441448"/>
            <a:ext cx="23774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Fotos, videos y aprobación técnica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03320"/>
            <a:ext cx="3383280" cy="14173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849624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0A5F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813048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Aptos"/>
              </a:rPr>
              <a:t>Enviar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270248"/>
            <a:ext cx="23774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Cotización, ruta y seguimiento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3703320"/>
            <a:ext cx="3383280" cy="14173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1" y="3849624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59E0B"/>
                </a:solidFill>
                <a:latin typeface="Consola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3813048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Aptos"/>
              </a:rPr>
              <a:t>Confiar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9" y="4270248"/>
            <a:ext cx="23774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Reseñas, reportes y resolución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703320"/>
            <a:ext cx="3383280" cy="14173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849624"/>
            <a:ext cx="502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813048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8FAFC"/>
                </a:solidFill>
                <a:latin typeface="Aptos"/>
              </a:rPr>
              <a:t>Gestionar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4270248"/>
            <a:ext cx="237744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Perfil, ventas y administración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Cómo funciona una compra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Flujo conceptual de una orden, desde la publicación hasta la entrega.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5880" y="2148840"/>
            <a:ext cx="658368" cy="65836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27685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ADC6FF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63240"/>
            <a:ext cx="1920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ADC6FF"/>
                </a:solidFill>
                <a:latin typeface="Consolas"/>
              </a:rPr>
              <a:t>PUBLICAR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20440"/>
            <a:ext cx="21945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El vendedor crea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la ficha del producto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03120" y="2478024"/>
            <a:ext cx="1234440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251960" y="2148840"/>
            <a:ext cx="658368" cy="65836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27685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CD7F6"/>
                </a:solidFill>
                <a:latin typeface="Consola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063240"/>
            <a:ext cx="1920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4CD7F6"/>
                </a:solidFill>
                <a:latin typeface="Consolas"/>
              </a:rPr>
              <a:t>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520440"/>
            <a:ext cx="21945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El pedido se crea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y se registra el pago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0" y="2478024"/>
            <a:ext cx="1234440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178040" y="2148840"/>
            <a:ext cx="658368" cy="65836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227685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60A5FA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063240"/>
            <a:ext cx="1920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60A5FA"/>
                </a:solidFill>
                <a:latin typeface="Consolas"/>
              </a:rPr>
              <a:t>ENVIAR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20440"/>
            <a:ext cx="21945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Se asigna envío y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se actualiza el tracking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80" y="2478024"/>
            <a:ext cx="1234440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0104120" y="2148840"/>
            <a:ext cx="658368" cy="65836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04120" y="227685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EDEA3"/>
                </a:solidFill>
                <a:latin typeface="Consola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063240"/>
            <a:ext cx="1920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4EDEA3"/>
                </a:solidFill>
                <a:latin typeface="Consolas"/>
              </a:rPr>
              <a:t>ENTREGAR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520440"/>
            <a:ext cx="21945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Se registra el resultado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y se cierra el flujo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4892040"/>
            <a:ext cx="10149840" cy="685800"/>
          </a:xfrm>
          <a:prstGeom prst="roundRect">
            <a:avLst/>
          </a:prstGeom>
          <a:solidFill>
            <a:srgbClr val="0A1B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093208"/>
            <a:ext cx="9692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4CD7F6"/>
                </a:solidFill>
                <a:latin typeface="Consolas"/>
              </a:rPr>
              <a:t>pending → paid → in_custody → shipped → delivered · cancelled / refunded · PENDING expira a los 60 min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Recorrido por la experiencia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Vistas conceptuales para orientar la demo; reemplazar por capturas reales de la aplicación.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429000" cy="3474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3429000" cy="384048"/>
          </a:xfrm>
          <a:prstGeom prst="rect">
            <a:avLst/>
          </a:prstGeom>
          <a:solidFill>
            <a:srgbClr val="162238"/>
          </a:solidFill>
          <a:ln w="12700">
            <a:solidFill>
              <a:srgbClr val="16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1" y="1965960"/>
            <a:ext cx="73152" cy="73152"/>
          </a:xfrm>
          <a:prstGeom prst="ellipse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1" y="1965960"/>
            <a:ext cx="73152" cy="73152"/>
          </a:xfrm>
          <a:prstGeom prst="ellipse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1" y="1965960"/>
            <a:ext cx="73152" cy="73152"/>
          </a:xfrm>
          <a:prstGeom prst="ellipse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DC6FF"/>
                </a:solidFill>
                <a:latin typeface="Consolas"/>
              </a:rPr>
              <a:t>EXPLORAR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2834640"/>
            <a:ext cx="2926080" cy="502920"/>
          </a:xfrm>
          <a:prstGeom prst="roundRect">
            <a:avLst/>
          </a:prstGeom>
          <a:solidFill>
            <a:srgbClr val="162238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7552" y="2926080"/>
            <a:ext cx="347472" cy="320040"/>
          </a:xfrm>
          <a:prstGeom prst="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962656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Aptos"/>
              </a:rPr>
              <a:t>GPU · Verificada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493008"/>
            <a:ext cx="2926080" cy="502920"/>
          </a:xfrm>
          <a:prstGeom prst="roundRect">
            <a:avLst/>
          </a:prstGeom>
          <a:solidFill>
            <a:srgbClr val="162238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552" y="3584448"/>
            <a:ext cx="347472" cy="320040"/>
          </a:xfrm>
          <a:prstGeom prst="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621024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Aptos"/>
              </a:rPr>
              <a:t>RAM · 16 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151376"/>
            <a:ext cx="2926080" cy="502920"/>
          </a:xfrm>
          <a:prstGeom prst="roundRect">
            <a:avLst/>
          </a:prstGeom>
          <a:solidFill>
            <a:srgbClr val="162238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4242816"/>
            <a:ext cx="347472" cy="320040"/>
          </a:xfrm>
          <a:prstGeom prst="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4279392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Aptos"/>
              </a:rPr>
              <a:t>SSD · 1 TB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1828800"/>
            <a:ext cx="3429000" cy="3474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1828800"/>
            <a:ext cx="3429000" cy="384048"/>
          </a:xfrm>
          <a:prstGeom prst="rect">
            <a:avLst/>
          </a:prstGeom>
          <a:solidFill>
            <a:srgbClr val="162238"/>
          </a:solidFill>
          <a:ln w="12700">
            <a:solidFill>
              <a:srgbClr val="16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07992" y="1965960"/>
            <a:ext cx="73152" cy="73152"/>
          </a:xfrm>
          <a:prstGeom prst="ellipse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90872" y="1965960"/>
            <a:ext cx="73152" cy="73152"/>
          </a:xfrm>
          <a:prstGeom prst="ellipse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3752" y="1965960"/>
            <a:ext cx="73152" cy="73152"/>
          </a:xfrm>
          <a:prstGeom prst="ellipse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2395728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EDEA3"/>
                </a:solidFill>
                <a:latin typeface="Consolas"/>
              </a:rPr>
              <a:t>DETALLE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2834640"/>
            <a:ext cx="1234440" cy="1143000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852928"/>
            <a:ext cx="1371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onsolas"/>
              </a:rPr>
              <a:t>PRODUCTO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200400"/>
            <a:ext cx="14173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8FAFC"/>
                </a:solidFill>
                <a:latin typeface="Aptos"/>
              </a:rPr>
              <a:t>Estado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8FAFC"/>
                </a:solidFill>
                <a:latin typeface="Aptos"/>
              </a:rPr>
              <a:t>Precio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8FAFC"/>
                </a:solidFill>
                <a:latin typeface="Aptos"/>
              </a:rPr>
              <a:t>Verificación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4297680"/>
            <a:ext cx="2926080" cy="457200"/>
          </a:xfrm>
          <a:prstGeom prst="roundRect">
            <a:avLst/>
          </a:prstGeom>
          <a:solidFill>
            <a:srgbClr val="1E3A73"/>
          </a:solidFill>
          <a:ln w="12700">
            <a:solidFill>
              <a:srgbClr val="1E3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4407408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8FAFC"/>
                </a:solidFill>
                <a:latin typeface="Aptos"/>
              </a:rPr>
              <a:t>Agregar al carrito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1828800"/>
            <a:ext cx="3429000" cy="3474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20" y="1828800"/>
            <a:ext cx="3429000" cy="384048"/>
          </a:xfrm>
          <a:prstGeom prst="rect">
            <a:avLst/>
          </a:prstGeom>
          <a:solidFill>
            <a:srgbClr val="162238"/>
          </a:solidFill>
          <a:ln w="12700">
            <a:solidFill>
              <a:srgbClr val="16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2" y="1965960"/>
            <a:ext cx="73152" cy="73152"/>
          </a:xfrm>
          <a:prstGeom prst="ellipse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94192" y="1965960"/>
            <a:ext cx="73152" cy="73152"/>
          </a:xfrm>
          <a:prstGeom prst="ellipse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77072" y="1965960"/>
            <a:ext cx="73152" cy="73152"/>
          </a:xfrm>
          <a:prstGeom prst="ellipse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2395728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D7F6"/>
                </a:solidFill>
                <a:latin typeface="Consolas"/>
              </a:rPr>
              <a:t>SEGUIMIENTO</a:t>
            </a:r>
          </a:p>
        </p:txBody>
      </p:sp>
      <p:sp>
        <p:nvSpPr>
          <p:cNvPr id="41" name="Oval 40"/>
          <p:cNvSpPr/>
          <p:nvPr/>
        </p:nvSpPr>
        <p:spPr>
          <a:xfrm>
            <a:off x="8275320" y="3017520"/>
            <a:ext cx="411480" cy="411480"/>
          </a:xfrm>
          <a:prstGeom prst="ellipse">
            <a:avLst/>
          </a:prstGeom>
          <a:solidFill>
            <a:srgbClr val="182845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83880" y="3566160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 i="0">
                <a:solidFill>
                  <a:srgbClr val="ADC6FF"/>
                </a:solidFill>
                <a:latin typeface="Aptos"/>
              </a:rPr>
              <a:t>Depósito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714232" y="3218688"/>
            <a:ext cx="429768" cy="0"/>
          </a:xfrm>
          <a:prstGeom prst="line">
            <a:avLst/>
          </a:prstGeom>
          <a:ln w="1524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9262872" y="3017520"/>
            <a:ext cx="411480" cy="411480"/>
          </a:xfrm>
          <a:prstGeom prst="ellipse">
            <a:avLst/>
          </a:prstGeom>
          <a:solidFill>
            <a:srgbClr val="182845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71432" y="3566160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 i="0">
                <a:solidFill>
                  <a:srgbClr val="4CD7F6"/>
                </a:solidFill>
                <a:latin typeface="Aptos"/>
              </a:rPr>
              <a:t>Camión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01784" y="3218688"/>
            <a:ext cx="429768" cy="0"/>
          </a:xfrm>
          <a:prstGeom prst="line">
            <a:avLst/>
          </a:prstGeom>
          <a:ln w="15240">
            <a:solidFill>
              <a:srgbClr val="4CD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250424" y="3017520"/>
            <a:ext cx="411480" cy="411480"/>
          </a:xfrm>
          <a:prstGeom prst="ellipse">
            <a:avLst/>
          </a:prstGeom>
          <a:solidFill>
            <a:srgbClr val="182845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58984" y="3566160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 i="0">
                <a:solidFill>
                  <a:srgbClr val="4EDEA3"/>
                </a:solidFill>
                <a:latin typeface="Aptos"/>
              </a:rPr>
              <a:t>Destino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60" y="429768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8FAFC"/>
                </a:solidFill>
                <a:latin typeface="Aptos"/>
              </a:rPr>
              <a:t>ETA · distancia · estado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66928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IMPORTANTE: son wireframes ilustrativos, no capturas del producto desplegado.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A · BÁSICA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Perfil, reputación y confianza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La confianza se construye con información, evidencia y mecanismos de revisión.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29000" cy="32004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64008" cy="320040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EDEA3"/>
                </a:solidFill>
                <a:latin typeface="Aptos"/>
              </a:rPr>
              <a:t>VERIFICACIÓN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50592"/>
            <a:ext cx="30449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SEÑALES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24912"/>
            <a:ext cx="3044952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Estado de revisión técnica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Evidencia visual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Aprobación o rechazo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920240"/>
            <a:ext cx="3429000" cy="32004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64008" cy="320040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DC6FF"/>
                </a:solidFill>
                <a:latin typeface="Aptos"/>
              </a:rPr>
              <a:t>REPUTACIÓN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450592"/>
            <a:ext cx="30449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SEÑALES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724912"/>
            <a:ext cx="3044952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Reseñas y calificaciones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Historial de operaciones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Reportes y quejas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920240"/>
            <a:ext cx="3429000" cy="32004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920240"/>
            <a:ext cx="64008" cy="320040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CD7F6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450592"/>
            <a:ext cx="30449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4748B"/>
                </a:solidFill>
                <a:latin typeface="Consolas"/>
              </a:rPr>
              <a:t>SEÑALES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724912"/>
            <a:ext cx="3044952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Permisos por rol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Panel de administración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Seguimiento de incidencias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4241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94A3B8"/>
                </a:solidFill>
                <a:latin typeface="Aptos"/>
              </a:rPr>
              <a:t>La plataforma aporta señales de confianza; no garantiza por sí sola que una operación esté libre de riesgo.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Arquitectura general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Separación entre cliente, API, persistencia e integraciones externas.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2148840"/>
            <a:ext cx="214884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148840"/>
            <a:ext cx="64008" cy="123444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13432"/>
            <a:ext cx="176479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DC6FF"/>
                </a:solidFill>
                <a:latin typeface="Aptos"/>
              </a:rPr>
              <a:t>CLIENTES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70632"/>
            <a:ext cx="176479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8FAFC"/>
                </a:solidFill>
                <a:latin typeface="Aptos"/>
              </a:rPr>
              <a:t>Web / app móvil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33172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2148840"/>
            <a:ext cx="64008" cy="123444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313432"/>
            <a:ext cx="19476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CD7F6"/>
                </a:solidFill>
                <a:latin typeface="Aptos"/>
              </a:rPr>
              <a:t>API 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770632"/>
            <a:ext cx="194767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8FAFC"/>
                </a:solidFill>
                <a:latin typeface="Aptos"/>
              </a:rPr>
              <a:t>NestJS · módulos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2148840"/>
            <a:ext cx="224028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148840"/>
            <a:ext cx="64008" cy="123444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2313432"/>
            <a:ext cx="18562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EDEA3"/>
                </a:solidFill>
                <a:latin typeface="Aptos"/>
              </a:rPr>
              <a:t>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770632"/>
            <a:ext cx="185623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8FAFC"/>
                </a:solidFill>
                <a:latin typeface="Aptos"/>
              </a:rPr>
              <a:t>PostgreSQL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8FAFC"/>
                </a:solidFill>
                <a:latin typeface="Aptos"/>
              </a:rPr>
              <a:t>TypeORM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1874519"/>
            <a:ext cx="2560320" cy="86868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874519"/>
            <a:ext cx="64008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16568" y="2039112"/>
            <a:ext cx="21762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MERCADO LIBRE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2496312"/>
            <a:ext cx="2176272" cy="15544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Aptos"/>
              </a:rPr>
              <a:t>OAuth · publicaciones · ventas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971800"/>
            <a:ext cx="2560320" cy="86868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400" y="2971800"/>
            <a:ext cx="64008" cy="86868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16568" y="3136392"/>
            <a:ext cx="217627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D7F6"/>
                </a:solidFill>
                <a:latin typeface="Aptos"/>
              </a:rPr>
              <a:t>GOOGLE MAPS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16568" y="3593592"/>
            <a:ext cx="2176272" cy="15544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8FAFC"/>
                </a:solidFill>
                <a:latin typeface="Aptos"/>
              </a:rPr>
              <a:t>Geocoding · rutas · mapas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743200" y="2761488"/>
            <a:ext cx="457200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577840" y="2761488"/>
            <a:ext cx="502920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486400" y="2304288"/>
            <a:ext cx="3383280" cy="118872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063240"/>
            <a:ext cx="3383280" cy="338328"/>
          </a:xfrm>
          <a:prstGeom prst="line">
            <a:avLst/>
          </a:prstGeom>
          <a:ln w="19050">
            <a:solidFill>
              <a:srgbClr val="4CD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05840" y="4251960"/>
            <a:ext cx="10149840" cy="685800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4440" y="4462272"/>
            <a:ext cx="9692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8FAFC"/>
                </a:solidFill>
                <a:latin typeface="Aptos"/>
              </a:rPr>
              <a:t>Autenticación JWT  ·  validación de entradas  ·  reglas de negocio  ·  persistencia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303520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Aptos"/>
              </a:rPr>
              <a:t>El diagrama resume la arquitectura descrita en la guía del proyecto.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Stack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Stack verificado contra package.json y el repositorio (oct-2026).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5166360" cy="34290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64008" cy="342900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93392"/>
            <a:ext cx="47823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4CD7F6"/>
                </a:solidFill>
                <a:latin typeface="Aptos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50592"/>
            <a:ext cx="4782312" cy="2715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NestJS  ·  TypeScript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TypeORM  ·  PostgreSQL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JWT access / refresh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Módulos organizados por dominio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166360" cy="34290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64008" cy="342900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1993392"/>
            <a:ext cx="47823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ADC6FF"/>
                </a:solidFill>
                <a:latin typeface="Aptos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450592"/>
            <a:ext cx="4782312" cy="2715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Expo SDK 57 (web + móvil)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React Native · Expo Router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NativeWind · TanStack Query · Zustand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8FAFC"/>
                </a:solidFill>
                <a:latin typeface="Aptos"/>
              </a:rPr>
              <a:t>tsc --noEmit + expo lint: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241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94A3B8"/>
                </a:solidFill>
                <a:latin typeface="Aptos"/>
              </a:rPr>
              <a:t>App Expo única para web y móvil; no hay app Next.js separada en el repo.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Backend organizado por dominios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Los módulos separan responsabilidades y permiten evolucionar funcionalidades.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167128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Auth &amp; 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1965960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2167128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EDEA3"/>
                </a:solidFill>
                <a:latin typeface="Consolas"/>
              </a:rPr>
              <a:t>Products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965960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59" y="2167128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Orders / Cart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965960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167128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9E0B"/>
                </a:solidFill>
                <a:latin typeface="Consolas"/>
              </a:rPr>
              <a:t>Payments / Wallets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59" y="1965960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399" y="2167128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EDEA3"/>
                </a:solidFill>
                <a:latin typeface="Consolas"/>
              </a:rPr>
              <a:t>Verifications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19" y="3246120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Reviews / Reports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71800" y="3044952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40" y="3246120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Shipping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3520" y="3044952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59" y="3246120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60A5FA"/>
                </a:solidFill>
                <a:latin typeface="Consolas"/>
              </a:rPr>
              <a:t>Delivery Planning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044952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246120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Driver App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59" y="3044952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399" y="3246120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9E0B"/>
                </a:solidFill>
                <a:latin typeface="Consolas"/>
              </a:rPr>
              <a:t>Mercado Libre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123944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19" y="4325112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Google Maps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4123944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63240" y="4325112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EDEA3"/>
                </a:solidFill>
                <a:latin typeface="Consolas"/>
              </a:rPr>
              <a:t>Notifications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0" y="4123944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59" y="4325112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60A5FA"/>
                </a:solidFill>
                <a:latin typeface="Consolas"/>
              </a:rPr>
              <a:t>Analytics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4123944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79" y="4325112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Admin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66959" y="4123944"/>
            <a:ext cx="2057400" cy="658368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399" y="4325112"/>
            <a:ext cx="1874519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94A3B8"/>
                </a:solidFill>
                <a:latin typeface="Consolas"/>
              </a:rPr>
              <a:t>Core / Common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71500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Cada módulo encapsula lógica de negocio y se integra con los módulos relacionados.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Modelo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Entidades que sostienen catálogo, órdenes con custodia, pagos y entrega.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60020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221992"/>
            <a:ext cx="14904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057400"/>
            <a:ext cx="169164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8064" y="2221992"/>
            <a:ext cx="1581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EDEA3"/>
                </a:solidFill>
                <a:latin typeface="Consolas"/>
              </a:rPr>
              <a:t>products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057400"/>
            <a:ext cx="160020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9783" y="2221992"/>
            <a:ext cx="14904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2057400"/>
            <a:ext cx="173736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78624" y="2221992"/>
            <a:ext cx="1627631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order_items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2057400"/>
            <a:ext cx="178308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221992"/>
            <a:ext cx="16733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60A5FA"/>
                </a:solidFill>
                <a:latin typeface="Consolas"/>
              </a:rPr>
              <a:t>shipments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3886200"/>
            <a:ext cx="164592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2463" y="4050791"/>
            <a:ext cx="153619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59E0B"/>
                </a:solidFill>
                <a:latin typeface="Consolas"/>
              </a:rPr>
              <a:t>payments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3886200"/>
            <a:ext cx="155448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1303" y="4050791"/>
            <a:ext cx="14447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EDEA3"/>
                </a:solidFill>
                <a:latin typeface="Consolas"/>
              </a:rPr>
              <a:t>wallets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9560" y="3886200"/>
            <a:ext cx="155448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424" y="4050791"/>
            <a:ext cx="144475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reviews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3886200"/>
            <a:ext cx="169164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0744" y="4050791"/>
            <a:ext cx="1581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94A3B8"/>
                </a:solidFill>
                <a:latin typeface="Consolas"/>
              </a:rPr>
              <a:t>cart_items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0" y="3886200"/>
            <a:ext cx="1737360" cy="56692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8944" y="4050791"/>
            <a:ext cx="1627631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4CD7F6"/>
                </a:solidFill>
                <a:latin typeface="Consolas"/>
              </a:rPr>
              <a:t>notifications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40280" y="2340864"/>
            <a:ext cx="457200" cy="0"/>
          </a:xfrm>
          <a:prstGeom prst="line">
            <a:avLst/>
          </a:prstGeom>
          <a:ln w="1778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434840" y="2340864"/>
            <a:ext cx="594360" cy="0"/>
          </a:xfrm>
          <a:prstGeom prst="line">
            <a:avLst/>
          </a:prstGeom>
          <a:ln w="1778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675120" y="2340864"/>
            <a:ext cx="502920" cy="0"/>
          </a:xfrm>
          <a:prstGeom prst="line">
            <a:avLst/>
          </a:prstGeom>
          <a:ln w="1778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961120" y="2340864"/>
            <a:ext cx="548640" cy="0"/>
          </a:xfrm>
          <a:prstGeom prst="line">
            <a:avLst/>
          </a:prstGeom>
          <a:ln w="1778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4480560" y="2697480"/>
            <a:ext cx="1325880" cy="114300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35040" y="2697480"/>
            <a:ext cx="457200" cy="1143000"/>
          </a:xfrm>
          <a:prstGeom prst="line">
            <a:avLst/>
          </a:prstGeom>
          <a:ln w="15240">
            <a:solidFill>
              <a:srgbClr val="4ED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001000" y="2697480"/>
            <a:ext cx="640080" cy="1143000"/>
          </a:xfrm>
          <a:prstGeom prst="line">
            <a:avLst/>
          </a:prstGeom>
          <a:ln w="1524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94A3B8"/>
                </a:solidFill>
                <a:latin typeface="Aptos"/>
              </a:rPr>
              <a:t>orders lleva fulfillment_stage, custody_start/end, cupón y reparación; ver order.entity.ts.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Ciclo de vida de una orden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Estados + etapas de fulfillment; la PENDING expira a los 60 min sin pago.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194560"/>
            <a:ext cx="2057400" cy="8229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6888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ADC6FF"/>
                </a:solidFill>
                <a:latin typeface="Consolas"/>
              </a:rPr>
              <a:t>pending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62072" y="2606040"/>
            <a:ext cx="704088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2194560"/>
            <a:ext cx="2057400" cy="8229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246888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4CD7F6"/>
                </a:solidFill>
                <a:latin typeface="Consolas"/>
              </a:rPr>
              <a:t>paid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42431" y="2606040"/>
            <a:ext cx="704089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37959" y="2194560"/>
            <a:ext cx="2057400" cy="8229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246888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60A5FA"/>
                </a:solidFill>
                <a:latin typeface="Consolas"/>
              </a:rPr>
              <a:t>shipped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2792" y="2606040"/>
            <a:ext cx="704088" cy="0"/>
          </a:xfrm>
          <a:prstGeom prst="line">
            <a:avLst/>
          </a:prstGeom>
          <a:ln w="2540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18319" y="2194560"/>
            <a:ext cx="2057400" cy="8229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8047" y="246888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4EDEA3"/>
                </a:solidFill>
                <a:latin typeface="Consolas"/>
              </a:rPr>
              <a:t>delivered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840480"/>
            <a:ext cx="448056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840480"/>
            <a:ext cx="64008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005072"/>
            <a:ext cx="40965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F4444"/>
                </a:solidFill>
                <a:latin typeface="Aptos"/>
              </a:rPr>
              <a:t>INTERMEDIO + SALIDAS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462272"/>
            <a:ext cx="409651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in_custody · cancelled · refunded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840480"/>
            <a:ext cx="457200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840480"/>
            <a:ext cx="64008" cy="123444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4005072"/>
            <a:ext cx="4187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EDEA3"/>
                </a:solidFill>
                <a:latin typeface="Aptos"/>
              </a:rPr>
              <a:t>CONTROL DE STOCK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462272"/>
            <a:ext cx="4187952" cy="5212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Sin reserva en PENDING · reserva atómica en pay() si stock &gt;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2356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Aptos"/>
              </a:rPr>
              <a:t>TTL 60 min + cron cada 10 min · protección 10/45 días desde el pago · SALE solo con pago real.</a:t>
            </a:r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INTEGRACIONES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Integración con Mercado Libre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Conexión de cuenta, publicación de productos e importación de ventas.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2057400" cy="16002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39572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761488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ptos"/>
              </a:rPr>
              <a:t>OAuth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82112"/>
            <a:ext cx="1828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Vendedor autoriza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971800"/>
            <a:ext cx="192024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34639" y="2240280"/>
            <a:ext cx="2057400" cy="16002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4368" y="239572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onsola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761488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ptos"/>
              </a:rPr>
              <a:t>Token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3182112"/>
            <a:ext cx="1828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Guardar credenciales cifradas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7" y="2971800"/>
            <a:ext cx="192025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59" y="2240280"/>
            <a:ext cx="2057400" cy="16002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39572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6088" y="2761488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ptos"/>
              </a:rPr>
              <a:t>Publicar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3182112"/>
            <a:ext cx="1828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Enviar ficha y variaciones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42048" y="2971800"/>
            <a:ext cx="192023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98079" y="2240280"/>
            <a:ext cx="2057400" cy="16002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07807" y="239572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onsola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807" y="2761488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ptos"/>
              </a:rPr>
              <a:t>Webhook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7" y="3182112"/>
            <a:ext cx="1828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Recibir evento de orden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73767" y="2971800"/>
            <a:ext cx="192025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829800" y="2240280"/>
            <a:ext cx="2057400" cy="16002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9528" y="239572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onsola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9528" y="2761488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ptos"/>
              </a:rPr>
              <a:t>Procesar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9528" y="3182112"/>
            <a:ext cx="1828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Importar venta y notificar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434840"/>
            <a:ext cx="10287000" cy="731520"/>
          </a:xfrm>
          <a:prstGeom prst="roundRect">
            <a:avLst/>
          </a:prstGeom>
          <a:solidFill>
            <a:srgbClr val="2A1F08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4663440"/>
            <a:ext cx="9829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Modo demo/mock si faltan credenciales  •  Modo real mediante variables de entorno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7784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Aptos"/>
              </a:rPr>
              <a:t>La guía describe reintentos de webhook y una cola de eventos fallidos para revisión.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INTEGRACIONES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Google Maps y logística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Planificación de rutas, cálculo de ETA y navegación de la persona repartidora.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383280" cy="2331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64008" cy="233172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93392"/>
            <a:ext cx="29992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CD7F6"/>
                </a:solidFill>
                <a:latin typeface="Aptos"/>
              </a:rPr>
              <a:t>PLANIFICAR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50592"/>
            <a:ext cx="2999232" cy="1618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Agrupar pedidos por zona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Calcular orden de paradas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Estimar km, duración y ETA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3383280" cy="2331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64008" cy="233172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1993392"/>
            <a:ext cx="29992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DC6FF"/>
                </a:solidFill>
                <a:latin typeface="Aptos"/>
              </a:rPr>
              <a:t>SEGUIR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450592"/>
            <a:ext cx="2999232" cy="1618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Mapa estático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Estado del envío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Distancia y tiempo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28800"/>
            <a:ext cx="3383280" cy="2331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828800"/>
            <a:ext cx="64008" cy="233172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1993392"/>
            <a:ext cx="299923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EDEA3"/>
                </a:solidFill>
                <a:latin typeface="Aptos"/>
              </a:rPr>
              <a:t>ENTREGAR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450592"/>
            <a:ext cx="2999232" cy="1618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Navegar con Maps/Waze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Registrar llegada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Marcar entrega o incidencia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33087" y="2971800"/>
            <a:ext cx="210313" cy="0"/>
          </a:xfrm>
          <a:prstGeom prst="line">
            <a:avLst/>
          </a:prstGeom>
          <a:ln w="1905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90688" y="2971800"/>
            <a:ext cx="210312" cy="0"/>
          </a:xfrm>
          <a:prstGeom prst="line">
            <a:avLst/>
          </a:prstGeom>
          <a:ln w="19050">
            <a:solidFill>
              <a:srgbClr val="AD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05840" y="4709160"/>
            <a:ext cx="10149840" cy="685800"/>
          </a:xfrm>
          <a:prstGeom prst="roundRect">
            <a:avLst/>
          </a:prstGeom>
          <a:solidFill>
            <a:srgbClr val="0A1B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4919472"/>
            <a:ext cx="9692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4CD7F6"/>
                </a:solidFill>
                <a:latin typeface="Aptos"/>
              </a:rPr>
              <a:t>La arquitectura plantea tracking GPS en tiempo real como mejora futura.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Seguridad y protección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Controles implementados de identidad, permisos y datos sensibles.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024128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5568" y="2029968"/>
            <a:ext cx="292608" cy="29260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1975104"/>
            <a:ext cx="27432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DC6FF"/>
                </a:solidFill>
                <a:latin typeface="Aptos"/>
              </a:rPr>
              <a:t>JWT access + refresh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993392"/>
            <a:ext cx="6217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Sesión, refresh y expiración PENDING (60 min)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788920"/>
            <a:ext cx="1024128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568" y="2990088"/>
            <a:ext cx="292608" cy="29260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2935224"/>
            <a:ext cx="27432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EDEA3"/>
                </a:solidFill>
                <a:latin typeface="Aptos"/>
              </a:rPr>
              <a:t>Roles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53512"/>
            <a:ext cx="6217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Permisos buyer / seller / admin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749039"/>
            <a:ext cx="1024128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3950207"/>
            <a:ext cx="292608" cy="29260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3895344"/>
            <a:ext cx="27432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CD7F6"/>
                </a:solidFill>
                <a:latin typeface="Aptos"/>
              </a:rPr>
              <a:t>Validación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913631"/>
            <a:ext cx="6217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UUID, entradas y endpoints dedicados por estado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709160"/>
            <a:ext cx="1024128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4910328"/>
            <a:ext cx="292608" cy="292608"/>
          </a:xfrm>
          <a:prstGeom prst="ellipse">
            <a:avLst/>
          </a:prstGeom>
          <a:solidFill>
            <a:srgbClr val="18284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0" y="4855464"/>
            <a:ext cx="27432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Aptos"/>
              </a:rPr>
              <a:t>Credenciales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873752"/>
            <a:ext cx="6217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8FAFC"/>
                </a:solidFill>
                <a:latin typeface="Aptos"/>
              </a:rPr>
              <a:t>Tokens externos cifrados · PATCH admin bloquea status directo</a:t>
            </a:r>
          </a:p>
        </p:txBody>
      </p:sp>
    </p:spTree>
  </p:cSld>
  <p:clrMapOvr>
    <a:masterClrMapping/>
  </p:clrMapOvr>
</p:sld>
</file>

<file path=ppt\slides\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Testing y 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Métricas reales de la última ejecución de la suite (oct-2026).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011680"/>
            <a:ext cx="3337560" cy="21488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29718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4EDEA3"/>
                </a:solidFill>
                <a:latin typeface="Consolas"/>
              </a:rPr>
              <a:t>215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27248"/>
            <a:ext cx="2971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Unit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60"/>
            <a:ext cx="28803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Backend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3337560" cy="21488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331720"/>
            <a:ext cx="29718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4CD7F6"/>
                </a:solidFill>
                <a:latin typeface="Consolas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127248"/>
            <a:ext cx="2971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E2E specs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566160"/>
            <a:ext cx="28803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Backend · requieren DB de test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011680"/>
            <a:ext cx="3337560" cy="21488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331720"/>
            <a:ext cx="29718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ADC6FF"/>
                </a:solidFill>
                <a:latin typeface="Consolas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27248"/>
            <a:ext cx="2971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tsc + lint 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566160"/>
            <a:ext cx="28803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Aptos"/>
              </a:rPr>
              <a:t>Frontend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4800600"/>
            <a:ext cx="8321040" cy="640080"/>
          </a:xfrm>
          <a:prstGeom prst="roundRect">
            <a:avLst/>
          </a:prstGeom>
          <a:solidFill>
            <a:srgbClr val="06271A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5001768"/>
            <a:ext cx="7863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EDEA3"/>
                </a:solidFill>
                <a:latin typeface="Aptos"/>
              </a:rPr>
              <a:t>Backend + Frontend: tsc y lint verificados (oct-2026)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1500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94A3B8"/>
                </a:solidFill>
                <a:latin typeface="Aptos"/>
              </a:rPr>
              <a:t>Suite unitaria re-ejecutada: 215/215 ✔ en 19 suites (oct-2026).</a:t>
            </a:r>
          </a:p>
        </p:txBody>
      </p:sp>
    </p:spTree>
  </p:cSld>
  <p:clrMapOvr>
    <a:masterClrMapping/>
  </p:clrMapOvr>
</p:sld>
</file>

<file path=ppt\slides\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PARTE B ·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Despliegue y demostración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Formas de compartir una versión revisable del proyecto.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29000" cy="2331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64008" cy="2331720"/>
          </a:xfrm>
          <a:prstGeom prst="rect">
            <a:avLst/>
          </a:prstGeom>
          <a:solidFill>
            <a:srgbClr val="ADC6FF"/>
          </a:solidFill>
          <a:ln w="12700">
            <a:solidFill>
              <a:srgbClr val="AD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DC6FF"/>
                </a:solidFill>
                <a:latin typeface="Aptos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42032"/>
            <a:ext cx="3044952" cy="1618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Publicación estática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Netlify (según guía)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URL de revisión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920240"/>
            <a:ext cx="3429000" cy="2331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920240"/>
            <a:ext cx="64008" cy="2331720"/>
          </a:xfrm>
          <a:prstGeom prst="rect">
            <a:avLst/>
          </a:prstGeom>
          <a:solidFill>
            <a:srgbClr val="4EDEA3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EDEA3"/>
                </a:solidFill>
                <a:latin typeface="Aptos"/>
              </a:rPr>
              <a:t>MÓVIL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542032"/>
            <a:ext cx="3044952" cy="1618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APK generada con EAS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Instalación en Android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Prueba en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920240"/>
            <a:ext cx="3429000" cy="233172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920240"/>
            <a:ext cx="64008" cy="2331720"/>
          </a:xfrm>
          <a:prstGeom prst="rect">
            <a:avLst/>
          </a:prstGeom>
          <a:solidFill>
            <a:srgbClr val="4CD7F6"/>
          </a:solidFill>
          <a:ln w="12700">
            <a:solidFill>
              <a:srgbClr val="4C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084832"/>
            <a:ext cx="304495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CD7F6"/>
                </a:solidFill>
                <a:latin typeface="Aptos"/>
              </a:rPr>
              <a:t>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542032"/>
            <a:ext cx="3044952" cy="1618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Servidor local o Expo Go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QR de acceso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8FAFC"/>
                </a:solidFill>
                <a:latin typeface="Aptos"/>
              </a:rPr>
              <a:t>Usuarios de prueba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754880"/>
            <a:ext cx="10149840" cy="713232"/>
          </a:xfrm>
          <a:prstGeom prst="roundRect">
            <a:avLst/>
          </a:prstGeom>
          <a:solidFill>
            <a:srgbClr val="2A1F08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974336"/>
            <a:ext cx="9692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Completar URL, QR y credenciales demo reales antes de compartir el PPT.</a:t>
            </a:r>
          </a:p>
        </p:txBody>
      </p:sp>
    </p:spTree>
  </p:cSld>
  <p:clrMapOvr>
    <a:masterClrMapping/>
  </p:clrMapOvr>
</p:sld>
</file>

<file path=ppt\slides\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64592"/>
            <a:ext cx="2331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828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 i="0">
                <a:solidFill>
                  <a:srgbClr val="F8FAFC"/>
                </a:solidFill>
                <a:latin typeface="Aptos"/>
              </a:rPr>
              <a:t>Objetivos a largo plazo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0972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Aptos"/>
              </a:rPr>
              <a:t>Evolución propuesta para llevar la plataforma a una experiencia más completa.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7492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03120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59E0B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66544"/>
            <a:ext cx="3840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Pagos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38404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Aptos"/>
              </a:rPr>
              <a:t>Conectar una pasarela y validar conciliación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920240"/>
            <a:ext cx="507492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103120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EDEA3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66544"/>
            <a:ext cx="3840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Push en producción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487168"/>
            <a:ext cx="38404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Aptos"/>
              </a:rPr>
              <a:t>Notificaciones fiables y preferencias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566160"/>
            <a:ext cx="507492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749040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D7F6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712464"/>
            <a:ext cx="3840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Tracking en vivo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33088"/>
            <a:ext cx="38404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Aptos"/>
              </a:rPr>
              <a:t>Ubicación del repartidor en tiempo real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566160"/>
            <a:ext cx="507492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749040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DC6FF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712464"/>
            <a:ext cx="3840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8FAFC"/>
                </a:solidFill>
                <a:latin typeface="Aptos"/>
              </a:rPr>
              <a:t>Administración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133088"/>
            <a:ext cx="38404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Aptos"/>
              </a:rPr>
              <a:t>Más métricas, reportes y 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6928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94A3B8"/>
                </a:solidFill>
                <a:latin typeface="Aptos"/>
              </a:rPr>
              <a:t>Roadmap propuesto: priorizar según recursos, riesgos y feedback de usuarios.</a:t>
            </a:r>
          </a:p>
        </p:txBody>
      </p:sp>
    </p:spTree>
  </p:cSld>
  <p:clrMapOvr>
    <a:masterClrMapping/>
  </p:clrMapOvr>
</p:sld>
</file>

<file path=ppt\slides\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DC6FF"/>
                </a:solidFill>
                <a:latin typeface="Consolas"/>
              </a:rPr>
              <a:t>◈  TECHSHIELD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7315200" cy="1600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 i="0">
                <a:solidFill>
                  <a:srgbClr val="F8FAFC"/>
                </a:solidFill>
                <a:latin typeface="Aptos"/>
              </a:rPr>
              <a:t>Comprar hardware</a:t>
            </a:r>
          </a:p>
          <a:p>
            <a:pPr algn="l">
              <a:spcAft>
                <a:spcPts val="400"/>
              </a:spcAft>
            </a:pPr>
            <a:r>
              <a:rPr sz="4200" b="1" i="0">
                <a:solidFill>
                  <a:srgbClr val="F8FAFC"/>
                </a:solidFill>
                <a:latin typeface="Aptos"/>
              </a:rPr>
              <a:t>sin miedo.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566160"/>
            <a:ext cx="75895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4EDEA3"/>
                </a:solidFill>
                <a:latin typeface="Aptos"/>
              </a:rPr>
              <a:t>Más confianza. Más trazabilidad. Mejor experiencia.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572000"/>
            <a:ext cx="3657600" cy="640080"/>
          </a:xfrm>
          <a:prstGeom prst="roundRect">
            <a:avLst/>
          </a:prstGeom>
          <a:solidFill>
            <a:srgbClr val="182845"/>
          </a:solidFill>
          <a:ln w="1270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4773168"/>
            <a:ext cx="3246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ADC6FF"/>
                </a:solidFill>
                <a:latin typeface="Consolas"/>
              </a:rPr>
              <a:t>GRACIAS  ·  PREGUNTAS</a:t>
            </a:r>
          </a:p>
        </p:txBody>
      </p:sp>
      <p:sp>
        <p:nvSpPr>
          <p:cNvPr id="8" name="Oval 7"/>
          <p:cNvSpPr/>
          <p:nvPr/>
        </p:nvSpPr>
        <p:spPr>
          <a:xfrm>
            <a:off x="8366760" y="1508760"/>
            <a:ext cx="2423160" cy="2423160"/>
          </a:xfrm>
          <a:prstGeom prst="ellipse">
            <a:avLst/>
          </a:prstGeom>
          <a:solidFill>
            <a:srgbClr val="111A2E"/>
          </a:solidFill>
          <a:ln w="12700">
            <a:solidFill>
              <a:srgbClr val="4ED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1856231"/>
            <a:ext cx="1645920" cy="11887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7400" b="1" i="0">
                <a:solidFill>
                  <a:srgbClr val="4EDEA3"/>
                </a:solidFill>
                <a:latin typeface="Consolas"/>
              </a:rPr>
              <a:t>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510528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 i="0">
                <a:solidFill>
                  <a:srgbClr val="64748B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